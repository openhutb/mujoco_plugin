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309" r:id="rId4"/>
    <p:sldId id="310" r:id="rId6"/>
  </p:sldIdLst>
  <p:sldSz cx="9144000" cy="5143500" type="screen16x9"/>
  <p:notesSz cx="9144000" cy="5143500"/>
  <p:embeddedFontLst>
    <p:embeddedFont>
      <p:font typeface="Economica" panose="02000506040000020004"/>
      <p:regular r:id="rId10"/>
    </p:embeddedFont>
    <p:embeddedFont>
      <p:font typeface="Open Sans" panose="020B0606030504020204"/>
      <p:regular r:id="rId11"/>
    </p:embeddedFont>
    <p:embeddedFont>
      <p:font typeface="Muli Regular"/>
      <p:regular r:id="rId12"/>
      <p:italic r:id="rId13"/>
    </p:embeddedFont>
    <p:embeddedFont>
      <p:font typeface="微软雅黑" panose="020B0503020204020204" charset="-122"/>
      <p:regular r:id="rId14"/>
    </p:embeddedFont>
    <p:embeddedFont>
      <p:font typeface="等线" panose="02010600030101010101" charset="-122"/>
      <p:regular r:id="rId15"/>
    </p:embeddedFont>
    <p:embeddedFont>
      <p:font typeface="Muli"/>
      <p:regular r:id="rId16"/>
      <p:bold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939" userDrawn="1">
          <p15:clr>
            <a:srgbClr val="A4A3A4"/>
          </p15:clr>
        </p15:guide>
        <p15:guide id="2" pos="20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8D4"/>
    <a:srgbClr val="DAE8FC"/>
    <a:srgbClr val="FFE6CC"/>
    <a:srgbClr val="10739E"/>
    <a:srgbClr val="E9DFC0"/>
    <a:srgbClr val="FFF2CC"/>
    <a:srgbClr val="2B93F0"/>
    <a:srgbClr val="72AE46"/>
    <a:srgbClr val="FEC000"/>
    <a:srgbClr val="8B4D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89277" autoAdjust="0"/>
  </p:normalViewPr>
  <p:slideViewPr>
    <p:cSldViewPr snapToGrid="0" showGuides="1">
      <p:cViewPr varScale="1">
        <p:scale>
          <a:sx n="197" d="100"/>
          <a:sy n="197" d="100"/>
        </p:scale>
        <p:origin x="652" y="116"/>
      </p:cViewPr>
      <p:guideLst>
        <p:guide orient="horz" pos="2939"/>
        <p:guide pos="2036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0294dfa11_0_4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altLang="zh-CN" sz="1100" b="1">
                <a:solidFill>
                  <a:srgbClr val="39373D"/>
                </a:solidFill>
                <a:latin typeface="Muli"/>
                <a:ea typeface="Muli"/>
                <a:cs typeface="Muli"/>
                <a:sym typeface="Muli"/>
              </a:rPr>
              <a:t>humanoid/g1_29dof_rev_1_0.jpg</a:t>
            </a:r>
            <a:endParaRPr lang="en-US" altLang="zh-CN" sz="1100" b="1">
              <a:solidFill>
                <a:srgbClr val="39373D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90" name="Google Shape;90;g80294dfa1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0294dfa11_0_4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zh-CN">
                <a:solidFill>
                  <a:srgbClr val="39373D"/>
                </a:solidFill>
              </a:rPr>
              <a:t>underwater/</a:t>
            </a:r>
            <a:r>
              <a:rPr lang="en-US">
                <a:solidFill>
                  <a:srgbClr val="39373D"/>
                </a:solidFill>
              </a:rPr>
              <a:t>HoloOcean_ROS.jpg</a:t>
            </a:r>
            <a:endParaRPr lang="en-US">
              <a:solidFill>
                <a:srgbClr val="39373D"/>
              </a:solidFill>
            </a:endParaRPr>
          </a:p>
        </p:txBody>
      </p:sp>
      <p:sp>
        <p:nvSpPr>
          <p:cNvPr id="90" name="Google Shape;90;g80294dfa1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matchingName="Title and Content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849773c3a5_0_53"/>
          <p:cNvSpPr txBox="1">
            <a:spLocks noGrp="1"/>
          </p:cNvSpPr>
          <p:nvPr>
            <p:ph type="sldNum" idx="12"/>
          </p:nvPr>
        </p:nvSpPr>
        <p:spPr>
          <a:xfrm>
            <a:off x="8545825" y="4756575"/>
            <a:ext cx="5982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540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2540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2540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2540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540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540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2540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2540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2540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matchingName="Section header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849773c3a5_0_10"/>
          <p:cNvSpPr/>
          <p:nvPr/>
        </p:nvSpPr>
        <p:spPr>
          <a:xfrm flipH="1">
            <a:off x="7595939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" name="Google Shape;19;g849773c3a5_0_10"/>
          <p:cNvSpPr/>
          <p:nvPr/>
        </p:nvSpPr>
        <p:spPr>
          <a:xfrm rot="10800000" flipH="1">
            <a:off x="466426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" name="Google Shape;20;g849773c3a5_0_10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1" name="Google Shape;21;g849773c3a5_0_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matchingName="Title and body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849773c3a5_0_1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24;g849773c3a5_0_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5" name="Google Shape;25;g849773c3a5_0_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849773c3a5_0_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showMasterSp="0" matchingName="Title and two columns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849773c3a5_0_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" name="Google Shape;29;g849773c3a5_0_2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849773c3a5_0_20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849773c3a5_0_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showMasterSp="0" matchingName="Title 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849773c3a5_0_2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4" name="Google Shape;34;g849773c3a5_0_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849773c3a5_0_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g849773c3a5_0_28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849773c3a5_0_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849773c3a5_0_3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Google Shape;41;g849773c3a5_0_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g849773c3a5_0_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849773c3a5_0_36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5" name="Google Shape;45;g849773c3a5_0_3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g849773c3a5_0_36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" name="Google Shape;47;g849773c3a5_0_36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/>
        </p:txBody>
      </p:sp>
      <p:sp>
        <p:nvSpPr>
          <p:cNvPr id="48" name="Google Shape;48;g849773c3a5_0_3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849773c3a5_0_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49773c3a5_0_43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</a:lstStyle>
          <a:p/>
        </p:txBody>
      </p:sp>
      <p:sp>
        <p:nvSpPr>
          <p:cNvPr id="52" name="Google Shape;52;g849773c3a5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849773c3a5_0_4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" name="Google Shape;55;g849773c3a5_0_46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849773c3a5_0_46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g849773c3a5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49773c3a5_0_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50" b="11670"/>
          <a:stretch>
            <a:fillRect/>
          </a:stretch>
        </p:blipFill>
        <p:spPr>
          <a:xfrm>
            <a:off x="0" y="1417536"/>
            <a:ext cx="9144000" cy="1967579"/>
          </a:xfrm>
          <a:prstGeom prst="rect">
            <a:avLst/>
          </a:prstGeom>
        </p:spPr>
      </p:pic>
      <p:sp>
        <p:nvSpPr>
          <p:cNvPr id="12" name="文本框 13"/>
          <p:cNvSpPr txBox="1">
            <a:spLocks noChangeArrowheads="1"/>
          </p:cNvSpPr>
          <p:nvPr userDrawn="1"/>
        </p:nvSpPr>
        <p:spPr bwMode="auto">
          <a:xfrm>
            <a:off x="2884217" y="3491178"/>
            <a:ext cx="337556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—  </a:t>
            </a: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汇报人：李智勇 </a:t>
            </a: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—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386000" y="4417255"/>
            <a:ext cx="6372000" cy="0"/>
            <a:chOff x="1360776" y="4324094"/>
            <a:chExt cx="8179860" cy="0"/>
          </a:xfrm>
        </p:grpSpPr>
        <p:cxnSp>
          <p:nvCxnSpPr>
            <p:cNvPr id="25" name="直接连接符 24"/>
            <p:cNvCxnSpPr/>
            <p:nvPr userDrawn="1"/>
          </p:nvCxnSpPr>
          <p:spPr>
            <a:xfrm>
              <a:off x="1360776" y="4324094"/>
              <a:ext cx="3024000" cy="0"/>
            </a:xfrm>
            <a:prstGeom prst="line">
              <a:avLst/>
            </a:prstGeom>
            <a:ln w="9525">
              <a:solidFill>
                <a:schemeClr val="accent1"/>
              </a:solidFill>
              <a:prstDash val="sysDash"/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 flipH="1">
              <a:off x="6516636" y="4324094"/>
              <a:ext cx="3024000" cy="0"/>
            </a:xfrm>
            <a:prstGeom prst="line">
              <a:avLst/>
            </a:prstGeom>
            <a:ln w="9525">
              <a:solidFill>
                <a:schemeClr val="accent1"/>
              </a:solidFill>
              <a:prstDash val="sysDash"/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六边形 27"/>
          <p:cNvSpPr/>
          <p:nvPr userDrawn="1"/>
        </p:nvSpPr>
        <p:spPr>
          <a:xfrm>
            <a:off x="3755110" y="4286258"/>
            <a:ext cx="1633780" cy="261997"/>
          </a:xfrm>
          <a:prstGeom prst="hexagon">
            <a:avLst>
              <a:gd name="adj" fmla="val 39769"/>
              <a:gd name="vf" fmla="val 115470"/>
            </a:avLst>
          </a:prstGeom>
          <a:solidFill>
            <a:schemeClr val="accent1"/>
          </a:solidFill>
        </p:spPr>
        <p:txBody>
          <a:bodyPr wrap="square" tIns="0" bIns="0" anchor="ctr" anchorCtr="0"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合作</a:t>
            </a:r>
            <a:r>
              <a: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单位</a:t>
            </a: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9" name="六边形 28"/>
          <p:cNvSpPr/>
          <p:nvPr userDrawn="1"/>
        </p:nvSpPr>
        <p:spPr>
          <a:xfrm>
            <a:off x="3237551" y="3871751"/>
            <a:ext cx="2668903" cy="255969"/>
          </a:xfrm>
          <a:prstGeom prst="hexagon">
            <a:avLst>
              <a:gd name="adj" fmla="val 36883"/>
              <a:gd name="vf" fmla="val 11547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依托</a:t>
            </a:r>
            <a:r>
              <a: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单位</a:t>
            </a: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：湖南大学</a:t>
            </a: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2108954" y="4639303"/>
            <a:ext cx="4926093" cy="30008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中国人民解放军国防科技大学  </a:t>
            </a:r>
            <a:r>
              <a:rPr kumimoji="0" lang="en-US" altLang="zh-CN" sz="135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|  </a:t>
            </a:r>
            <a:r>
              <a:rPr kumimoji="0" lang="zh-CN" altLang="en-US" sz="135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  <a:sym typeface="+mn-ea"/>
              </a:rPr>
              <a:t>航天彩虹无人机股份有限公司</a:t>
            </a:r>
            <a:endParaRPr kumimoji="0" lang="zh-CN" altLang="en-US" sz="1350" b="0" i="0" u="none" strike="noStrike" kern="1200" cap="none" spc="8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53"/>
          <p:cNvSpPr txBox="1"/>
          <p:nvPr userDrawn="1"/>
        </p:nvSpPr>
        <p:spPr>
          <a:xfrm>
            <a:off x="5933" y="1418252"/>
            <a:ext cx="9138069" cy="1966146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深度知识挖掘驱动的无人机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侦察情报助理</a:t>
            </a:r>
            <a:endParaRPr kumimoji="0" lang="zh-CN" altLang="en-US" sz="3300" b="1" i="0" u="none" strike="noStrike" kern="1200" cap="none" spc="0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-269999" y="2196601"/>
            <a:ext cx="545931" cy="409448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8" name="直角三角形 47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直角三角形 48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FBFB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 flipH="1">
            <a:off x="8868071" y="2196601"/>
            <a:ext cx="545931" cy="409448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32" name="直角三角形 31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直角三角形 32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FBFB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5" name="文本框 4"/>
          <p:cNvSpPr txBox="1"/>
          <p:nvPr userDrawn="1"/>
        </p:nvSpPr>
        <p:spPr>
          <a:xfrm>
            <a:off x="3405168" y="565785"/>
            <a:ext cx="23391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重点项目论证汇报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72" b="894"/>
          <a:stretch>
            <a:fillRect/>
          </a:stretch>
        </p:blipFill>
        <p:spPr>
          <a:xfrm>
            <a:off x="0" y="1495019"/>
            <a:ext cx="9144000" cy="2504360"/>
          </a:xfrm>
          <a:prstGeom prst="rect">
            <a:avLst/>
          </a:prstGeom>
        </p:spPr>
      </p:pic>
      <p:sp>
        <p:nvSpPr>
          <p:cNvPr id="31" name="矩形 30"/>
          <p:cNvSpPr/>
          <p:nvPr userDrawn="1"/>
        </p:nvSpPr>
        <p:spPr>
          <a:xfrm>
            <a:off x="3994664" y="4228728"/>
            <a:ext cx="1154675" cy="3231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2021</a:t>
            </a:r>
            <a:r>
              <a:rPr kumimoji="0" lang="zh-CN" altLang="en-US" sz="150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50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10</a:t>
            </a:r>
            <a:r>
              <a:rPr kumimoji="0" lang="zh-CN" altLang="en-US" sz="150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月</a:t>
            </a:r>
            <a:endParaRPr kumimoji="0" lang="zh-CN" altLang="en-US" sz="1500" b="0" i="0" u="none" strike="noStrike" kern="1200" cap="none" spc="8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53"/>
          <p:cNvSpPr txBox="1"/>
          <p:nvPr userDrawn="1"/>
        </p:nvSpPr>
        <p:spPr>
          <a:xfrm>
            <a:off x="5933" y="1495019"/>
            <a:ext cx="9138069" cy="2504360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450" normalizeH="0" baseline="0" noProof="0">
                <a:ln>
                  <a:noFill/>
                </a:ln>
                <a:solidFill>
                  <a:srgbClr val="FBFBF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谢谢各位专家！</a:t>
            </a:r>
            <a:endParaRPr kumimoji="0" lang="zh-CN" altLang="en-US" sz="5400" b="1" i="0" u="none" strike="noStrike" kern="1200" cap="none" spc="450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450" normalizeH="0" baseline="0" noProof="0">
                <a:ln>
                  <a:noFill/>
                </a:ln>
                <a:solidFill>
                  <a:srgbClr val="FBFBF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敬请批评指正！</a:t>
            </a:r>
            <a:endParaRPr kumimoji="0" lang="zh-CN" altLang="en-US" sz="5400" b="1" i="0" u="none" strike="noStrike" kern="1200" cap="none" spc="450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-269999" y="2542474"/>
            <a:ext cx="545931" cy="409448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8" name="直角三角形 47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直角三角形 48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FBFB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 flipH="1">
            <a:off x="8868071" y="2542474"/>
            <a:ext cx="545931" cy="409448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32" name="直角三角形 31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直角三角形 32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FBFB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8" name="直角三角形 47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直角三角形 48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7" name="菱形 26"/>
          <p:cNvSpPr/>
          <p:nvPr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19869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菱形 23"/>
          <p:cNvSpPr/>
          <p:nvPr userDrawn="1"/>
        </p:nvSpPr>
        <p:spPr>
          <a:xfrm>
            <a:off x="5163875" y="342055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26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8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0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菱形 26"/>
          <p:cNvSpPr/>
          <p:nvPr userDrawn="1"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菱形 65"/>
          <p:cNvSpPr/>
          <p:nvPr userDrawn="1"/>
        </p:nvSpPr>
        <p:spPr>
          <a:xfrm>
            <a:off x="5163877" y="342055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71150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" name="直角三角形 3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8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菱形 26"/>
          <p:cNvSpPr/>
          <p:nvPr userDrawn="1"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菱形 65"/>
          <p:cNvSpPr/>
          <p:nvPr userDrawn="1"/>
        </p:nvSpPr>
        <p:spPr>
          <a:xfrm>
            <a:off x="5163877" y="342055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19869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" name="直角三角形 3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8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菱形 26"/>
          <p:cNvSpPr/>
          <p:nvPr userDrawn="1"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菱形 65"/>
          <p:cNvSpPr/>
          <p:nvPr userDrawn="1"/>
        </p:nvSpPr>
        <p:spPr>
          <a:xfrm>
            <a:off x="5163877" y="342055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19869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" name="直角三角形 3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8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菱形 26"/>
          <p:cNvSpPr/>
          <p:nvPr userDrawn="1"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菱形 65"/>
          <p:cNvSpPr/>
          <p:nvPr userDrawn="1"/>
        </p:nvSpPr>
        <p:spPr>
          <a:xfrm>
            <a:off x="5163877" y="3420554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71150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" name="直角三角形 3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8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椭圆 19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一、背景与意义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二、内容与方案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三、创新与成果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四、基础与条件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五、进度与预算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0" y="27001"/>
            <a:ext cx="1454244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五、项目总结</a:t>
            </a:r>
            <a:endParaRPr kumimoji="0" lang="zh-CN" altLang="en-US" sz="165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fld id="{430F476B-2664-449A-AB10-048DED04FBD5}" type="datetimeFigureOut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zh-CN" altLang="en-US" kern="1200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  <a:defRPr/>
            </a:pPr>
            <a:fld id="{36F158E2-A096-4B65-BCC7-23F76A48A10E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849773c3a5_0_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/>
        </p:txBody>
      </p:sp>
      <p:sp>
        <p:nvSpPr>
          <p:cNvPr id="7" name="Google Shape;7;g849773c3a5_0_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 panose="020B0606030504020204"/>
              <a:buChar char="●"/>
              <a:defRPr sz="18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○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■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●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○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■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●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○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 panose="020B0606030504020204"/>
              <a:buChar char="■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/>
        </p:txBody>
      </p:sp>
      <p:sp>
        <p:nvSpPr>
          <p:cNvPr id="8" name="Google Shape;8;g849773c3a5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  <a:defRPr/>
            </a:pPr>
            <a:fld id="{C183E886-86A7-4F8D-8780-A286D99A2418}" type="datetime1">
              <a:rPr lang="zh-CN" altLang="en-US" kern="1200" smtClean="0">
                <a:solidFill>
                  <a:prstClr val="black">
                    <a:tint val="75000"/>
                  </a:prstClr>
                </a:solidFill>
                <a:ea typeface="微软雅黑" panose="020B0503020204020204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  <a:defRPr/>
            </a:pPr>
            <a:endParaRPr lang="zh-CN" altLang="en-US" kern="1200">
              <a:solidFill>
                <a:prstClr val="black">
                  <a:tint val="75000"/>
                </a:prstClr>
              </a:solidFill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46474" y="4767263"/>
            <a:ext cx="36887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  <a:defRPr/>
            </a:pPr>
            <a:fld id="{C3704629-1E74-47A3-90CD-33454C7737EB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  <a:ea typeface="微软雅黑" panose="020B0503020204020204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圆角矩形 36"/>
          <p:cNvSpPr/>
          <p:nvPr/>
        </p:nvSpPr>
        <p:spPr>
          <a:xfrm>
            <a:off x="1609725" y="924560"/>
            <a:ext cx="1587500" cy="1466215"/>
          </a:xfrm>
          <a:prstGeom prst="round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214110" y="2139315"/>
            <a:ext cx="1484630" cy="2530475"/>
          </a:xfrm>
          <a:prstGeom prst="round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835" y="308610"/>
            <a:ext cx="2400300" cy="476631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H="1">
            <a:off x="5361940" y="4434205"/>
            <a:ext cx="1125220" cy="236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矩形 243"/>
          <p:cNvSpPr/>
          <p:nvPr/>
        </p:nvSpPr>
        <p:spPr>
          <a:xfrm>
            <a:off x="6430010" y="4348480"/>
            <a:ext cx="126873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C00000"/>
                </a:solidFill>
              </a:rPr>
              <a:t>左脚踝（</a:t>
            </a:r>
            <a:r>
              <a:rPr lang="en-US" altLang="zh-CN" sz="1000" b="1">
                <a:solidFill>
                  <a:srgbClr val="C00000"/>
                </a:solidFill>
              </a:rPr>
              <a:t>2 DOF</a:t>
            </a:r>
            <a:r>
              <a:rPr lang="zh-CN" altLang="en-US" sz="1000" b="1">
                <a:solidFill>
                  <a:srgbClr val="C00000"/>
                </a:solidFill>
              </a:rPr>
              <a:t>）：</a:t>
            </a:r>
            <a:endParaRPr lang="zh-CN" altLang="en-US" sz="1000" b="1">
              <a:solidFill>
                <a:srgbClr val="C00000"/>
              </a:solidFill>
            </a:endParaRPr>
          </a:p>
          <a:p>
            <a:pPr algn="ctr"/>
            <a:r>
              <a:rPr lang="zh-CN" altLang="en-US" sz="1000" b="1">
                <a:solidFill>
                  <a:srgbClr val="C00000"/>
                </a:solidFill>
              </a:rPr>
              <a:t>俯仰、横滚</a:t>
            </a:r>
            <a:endParaRPr lang="zh-CN" altLang="en-US" sz="1000" b="1">
              <a:solidFill>
                <a:srgbClr val="C0000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5361940" y="3460115"/>
            <a:ext cx="1125220" cy="236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56680" y="3369945"/>
            <a:ext cx="98806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C00000"/>
                </a:solidFill>
              </a:rPr>
              <a:t>左膝（</a:t>
            </a:r>
            <a:r>
              <a:rPr lang="en-US" altLang="zh-CN" sz="1000" b="1">
                <a:solidFill>
                  <a:srgbClr val="C00000"/>
                </a:solidFill>
              </a:rPr>
              <a:t>1 DOF</a:t>
            </a:r>
            <a:r>
              <a:rPr lang="zh-CN" altLang="en-US" sz="1000" b="1">
                <a:solidFill>
                  <a:srgbClr val="C00000"/>
                </a:solidFill>
              </a:rPr>
              <a:t>）</a:t>
            </a:r>
            <a:endParaRPr lang="zh-CN" altLang="en-US" sz="1000" b="1">
              <a:solidFill>
                <a:srgbClr val="C00000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5222875" y="2324100"/>
            <a:ext cx="1125220" cy="236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6317615" y="2233930"/>
            <a:ext cx="98806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>
                <a:solidFill>
                  <a:srgbClr val="C00000"/>
                </a:solidFill>
              </a:rPr>
              <a:t>髋（</a:t>
            </a:r>
            <a:r>
              <a:rPr lang="en-US" altLang="zh-CN" sz="1000">
                <a:solidFill>
                  <a:srgbClr val="C00000"/>
                </a:solidFill>
              </a:rPr>
              <a:t>3 DOF</a:t>
            </a:r>
            <a:r>
              <a:rPr lang="zh-CN" altLang="en-US" sz="1000">
                <a:solidFill>
                  <a:srgbClr val="C00000"/>
                </a:solidFill>
              </a:rPr>
              <a:t>）</a:t>
            </a:r>
            <a:endParaRPr lang="zh-CN" altLang="en-US" sz="1000">
              <a:solidFill>
                <a:srgbClr val="C0000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5045075" y="1611630"/>
            <a:ext cx="1125220" cy="236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062345" y="1442720"/>
            <a:ext cx="1383030" cy="29908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>
                <a:solidFill>
                  <a:schemeClr val="tx1"/>
                </a:solidFill>
              </a:rPr>
              <a:t>腰（偏航</a:t>
            </a:r>
            <a:r>
              <a:rPr lang="en-US" altLang="zh-CN" sz="1000">
                <a:solidFill>
                  <a:schemeClr val="tx1"/>
                </a:solidFill>
              </a:rPr>
              <a:t>+</a:t>
            </a:r>
            <a:r>
              <a:rPr lang="zh-CN" altLang="en-US" sz="1000">
                <a:solidFill>
                  <a:schemeClr val="tx1"/>
                </a:solidFill>
              </a:rPr>
              <a:t>横滚）、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躯干（</a:t>
            </a:r>
            <a:r>
              <a:rPr lang="en-US" altLang="zh-CN" sz="1000">
                <a:solidFill>
                  <a:schemeClr val="tx1"/>
                </a:solidFill>
              </a:rPr>
              <a:t>3 DOF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3023235" y="1303020"/>
            <a:ext cx="1221740" cy="2921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774825" y="1238885"/>
            <a:ext cx="1350645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右肩（</a:t>
            </a:r>
            <a:r>
              <a:rPr lang="en-US" altLang="zh-CN" sz="1000" b="1">
                <a:solidFill>
                  <a:srgbClr val="0070C0"/>
                </a:solidFill>
              </a:rPr>
              <a:t>3 DOF</a:t>
            </a:r>
            <a:r>
              <a:rPr lang="zh-CN" altLang="en-US" sz="1000" b="1">
                <a:solidFill>
                  <a:srgbClr val="0070C0"/>
                </a:solidFill>
              </a:rPr>
              <a:t>）：</a:t>
            </a:r>
            <a:endParaRPr lang="zh-CN" altLang="en-US" sz="1000" b="1">
              <a:solidFill>
                <a:srgbClr val="0070C0"/>
              </a:solidFill>
            </a:endParaRPr>
          </a:p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俯仰、偏航、横滚</a:t>
            </a:r>
            <a:endParaRPr lang="zh-CN" altLang="en-US" sz="1000" b="1">
              <a:solidFill>
                <a:srgbClr val="0070C0"/>
              </a:solidFill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3067050" y="1750060"/>
            <a:ext cx="1234440" cy="62865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2086610" y="1630680"/>
            <a:ext cx="1007745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右肘（</a:t>
            </a:r>
            <a:r>
              <a:rPr lang="en-US" altLang="zh-CN" sz="1000" b="1">
                <a:solidFill>
                  <a:srgbClr val="0070C0"/>
                </a:solidFill>
              </a:rPr>
              <a:t>1 DOF</a:t>
            </a:r>
            <a:r>
              <a:rPr lang="zh-CN" altLang="en-US" sz="1000" b="1">
                <a:solidFill>
                  <a:srgbClr val="0070C0"/>
                </a:solidFill>
              </a:rPr>
              <a:t>）</a:t>
            </a:r>
            <a:endParaRPr lang="zh-CN" altLang="en-US" sz="1000" b="1">
              <a:solidFill>
                <a:srgbClr val="0070C0"/>
              </a:solidFill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2929890" y="2004695"/>
            <a:ext cx="1212850" cy="109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520190" y="2025015"/>
            <a:ext cx="157734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右手腕（</a:t>
            </a:r>
            <a:r>
              <a:rPr lang="en-US" altLang="zh-CN" sz="1000" b="1">
                <a:solidFill>
                  <a:srgbClr val="0070C0"/>
                </a:solidFill>
              </a:rPr>
              <a:t>3 DOF</a:t>
            </a:r>
            <a:r>
              <a:rPr lang="zh-CN" altLang="en-US" sz="1000" b="1">
                <a:solidFill>
                  <a:srgbClr val="0070C0"/>
                </a:solidFill>
              </a:rPr>
              <a:t>）：</a:t>
            </a:r>
            <a:endParaRPr lang="zh-CN" altLang="en-US" sz="1000" b="1">
              <a:solidFill>
                <a:srgbClr val="0070C0"/>
              </a:solidFill>
            </a:endParaRPr>
          </a:p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俯仰、偏航、横滚</a:t>
            </a:r>
            <a:endParaRPr lang="zh-CN" altLang="en-US" sz="1000" b="1">
              <a:solidFill>
                <a:srgbClr val="0070C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407785" y="1964690"/>
            <a:ext cx="111760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C00000"/>
                </a:solidFill>
              </a:rPr>
              <a:t>脚（</a:t>
            </a:r>
            <a:r>
              <a:rPr lang="en-US" altLang="zh-CN" sz="1000" b="1">
                <a:solidFill>
                  <a:srgbClr val="C00000"/>
                </a:solidFill>
              </a:rPr>
              <a:t>6 DOF</a:t>
            </a:r>
            <a:r>
              <a:rPr lang="zh-CN" altLang="en-US" sz="1000" b="1">
                <a:solidFill>
                  <a:srgbClr val="C00000"/>
                </a:solidFill>
                <a:sym typeface="+mn-ea"/>
              </a:rPr>
              <a:t>×</a:t>
            </a:r>
            <a:r>
              <a:rPr lang="en-US" altLang="zh-CN" sz="1000" b="1">
                <a:solidFill>
                  <a:srgbClr val="C00000"/>
                </a:solidFill>
                <a:sym typeface="+mn-ea"/>
              </a:rPr>
              <a:t>2</a:t>
            </a:r>
            <a:r>
              <a:rPr lang="zh-CN" altLang="en-US" sz="1000" b="1">
                <a:solidFill>
                  <a:srgbClr val="C00000"/>
                </a:solidFill>
              </a:rPr>
              <a:t>）</a:t>
            </a:r>
            <a:endParaRPr lang="zh-CN" altLang="en-US" sz="1000" b="1">
              <a:solidFill>
                <a:srgbClr val="C000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835150" y="720090"/>
            <a:ext cx="123190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手（</a:t>
            </a:r>
            <a:r>
              <a:rPr lang="en-US" altLang="zh-CN" sz="1000" b="1">
                <a:solidFill>
                  <a:srgbClr val="0070C0"/>
                </a:solidFill>
              </a:rPr>
              <a:t>7 DOF </a:t>
            </a:r>
            <a:r>
              <a:rPr lang="zh-CN" altLang="en-US" sz="1000" b="1">
                <a:solidFill>
                  <a:srgbClr val="0070C0"/>
                </a:solidFill>
              </a:rPr>
              <a:t>×</a:t>
            </a:r>
            <a:r>
              <a:rPr lang="en-US" altLang="zh-CN" sz="1000" b="1">
                <a:solidFill>
                  <a:srgbClr val="0070C0"/>
                </a:solidFill>
              </a:rPr>
              <a:t> 2 </a:t>
            </a:r>
            <a:r>
              <a:rPr lang="zh-CN" altLang="en-US" sz="1000" b="1">
                <a:solidFill>
                  <a:srgbClr val="0070C0"/>
                </a:solidFill>
              </a:rPr>
              <a:t>）</a:t>
            </a:r>
            <a:endParaRPr lang="zh-CN" altLang="en-US" sz="1000" b="1">
              <a:solidFill>
                <a:srgbClr val="0070C0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522980" y="93980"/>
            <a:ext cx="2365375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b="1">
                <a:solidFill>
                  <a:schemeClr val="tx1"/>
                </a:solidFill>
              </a:rPr>
              <a:t>人形机器人</a:t>
            </a:r>
            <a:r>
              <a:rPr lang="en-US" altLang="zh-CN" b="1">
                <a:solidFill>
                  <a:schemeClr val="tx1"/>
                </a:solidFill>
              </a:rPr>
              <a:t>g1</a:t>
            </a:r>
            <a:r>
              <a:rPr lang="zh-CN" altLang="en-US" b="1">
                <a:solidFill>
                  <a:schemeClr val="tx1"/>
                </a:solidFill>
              </a:rPr>
              <a:t>（</a:t>
            </a:r>
            <a:r>
              <a:rPr lang="en-US" altLang="zh-CN" b="1">
                <a:solidFill>
                  <a:schemeClr val="tx1"/>
                </a:solidFill>
              </a:rPr>
              <a:t>29 DOF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730375" y="4606290"/>
            <a:ext cx="1383030" cy="29908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sz="1000">
                <a:solidFill>
                  <a:schemeClr val="tx1"/>
                </a:solidFill>
              </a:rPr>
              <a:t>注：加粗显示的手和脚都是双侧</a:t>
            </a:r>
            <a:endParaRPr lang="zh-CN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圆角矩形 45"/>
          <p:cNvSpPr/>
          <p:nvPr/>
        </p:nvSpPr>
        <p:spPr>
          <a:xfrm>
            <a:off x="657860" y="731520"/>
            <a:ext cx="2223135" cy="4080510"/>
          </a:xfrm>
          <a:prstGeom prst="roundRect">
            <a:avLst>
              <a:gd name="adj" fmla="val 8967"/>
            </a:avLst>
          </a:prstGeom>
          <a:solidFill>
            <a:srgbClr val="FFF2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1131360" y="1236919"/>
            <a:ext cx="1275963" cy="354431"/>
          </a:xfrm>
          <a:prstGeom prst="round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代理更新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04050" y="370723"/>
            <a:ext cx="139371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C++ </a:t>
            </a:r>
            <a:r>
              <a:rPr lang="zh-CN" altLang="en-US" sz="1600" b="1" dirty="0">
                <a:solidFill>
                  <a:schemeClr val="tx1"/>
                </a:solidFill>
                <a:ea typeface="宋体" panose="02010600030101010101" pitchFamily="2" charset="-122"/>
              </a:rPr>
              <a:t>引擎</a:t>
            </a:r>
            <a:endParaRPr lang="zh-CN" altLang="en-US" sz="16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>
            <a:endCxn id="4" idx="0"/>
          </p:cNvCxnSpPr>
          <p:nvPr/>
        </p:nvCxnSpPr>
        <p:spPr>
          <a:xfrm>
            <a:off x="1769148" y="1591300"/>
            <a:ext cx="0" cy="392430"/>
          </a:xfrm>
          <a:prstGeom prst="straightConnector1">
            <a:avLst/>
          </a:prstGeom>
          <a:ln w="19050">
            <a:solidFill>
              <a:srgbClr val="1073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1131360" y="1983679"/>
            <a:ext cx="1275963" cy="354431"/>
          </a:xfrm>
          <a:prstGeom prst="roundRect">
            <a:avLst/>
          </a:prstGeom>
          <a:solidFill>
            <a:srgbClr val="FFF2CC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加速度集成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131360" y="2730439"/>
            <a:ext cx="1275963" cy="354431"/>
          </a:xfrm>
          <a:prstGeom prst="roundRect">
            <a:avLst/>
          </a:prstGeom>
          <a:solidFill>
            <a:srgbClr val="FFF2CC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碰撞和浮力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131360" y="3477199"/>
            <a:ext cx="1275963" cy="354431"/>
          </a:xfrm>
          <a:prstGeom prst="roundRect">
            <a:avLst/>
          </a:prstGeom>
          <a:solidFill>
            <a:srgbClr val="FFF2CC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引擎节拍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9125" y="832368"/>
            <a:ext cx="139371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HoloOcean</a:t>
            </a:r>
            <a:endParaRPr lang="en-US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1769148" y="2338060"/>
            <a:ext cx="0" cy="392430"/>
          </a:xfrm>
          <a:prstGeom prst="straightConnector1">
            <a:avLst/>
          </a:prstGeom>
          <a:ln w="19050">
            <a:solidFill>
              <a:srgbClr val="1073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1769148" y="3084820"/>
            <a:ext cx="0" cy="392430"/>
          </a:xfrm>
          <a:prstGeom prst="straightConnector1">
            <a:avLst/>
          </a:prstGeom>
          <a:ln w="19050">
            <a:solidFill>
              <a:srgbClr val="1073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1131360" y="4223959"/>
            <a:ext cx="1275963" cy="354431"/>
          </a:xfrm>
          <a:prstGeom prst="roundRect">
            <a:avLst/>
          </a:prstGeom>
          <a:solidFill>
            <a:srgbClr val="FFF2CC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传感器询问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734858" y="3831580"/>
            <a:ext cx="0" cy="392430"/>
          </a:xfrm>
          <a:prstGeom prst="straightConnector1">
            <a:avLst/>
          </a:prstGeom>
          <a:ln w="19050">
            <a:solidFill>
              <a:srgbClr val="1073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/>
        </p:nvSpPr>
        <p:spPr>
          <a:xfrm>
            <a:off x="3178175" y="677545"/>
            <a:ext cx="2223135" cy="4133850"/>
          </a:xfrm>
          <a:prstGeom prst="roundRect">
            <a:avLst>
              <a:gd name="adj" fmla="val 8967"/>
            </a:avLst>
          </a:prstGeom>
          <a:solidFill>
            <a:srgbClr val="FFE6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3251835" y="1591310"/>
            <a:ext cx="1882775" cy="2309495"/>
          </a:xfrm>
          <a:prstGeom prst="roundRect">
            <a:avLst>
              <a:gd name="adj" fmla="val 4282"/>
            </a:avLst>
          </a:prstGeom>
          <a:solidFill>
            <a:srgbClr val="DAE8FC"/>
          </a:solidFill>
          <a:ln w="25400" cap="flat" cmpd="sng">
            <a:solidFill>
              <a:srgbClr val="C00000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3314700" y="1646555"/>
            <a:ext cx="993775" cy="464820"/>
          </a:xfrm>
          <a:prstGeom prst="roundRect">
            <a:avLst/>
          </a:prstGeom>
          <a:solidFill>
            <a:srgbClr val="DAE8FC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C00000"/>
                </a:solidFill>
              </a:rPr>
              <a:t>福森动力学模型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491230" y="316865"/>
            <a:ext cx="15824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Python </a:t>
            </a:r>
            <a:r>
              <a:rPr lang="zh-CN" altLang="en-US" sz="1600" b="1" dirty="0">
                <a:solidFill>
                  <a:schemeClr val="tx1"/>
                </a:solidFill>
                <a:ea typeface="宋体" panose="02010600030101010101" pitchFamily="2" charset="-122"/>
              </a:rPr>
              <a:t>客户端</a:t>
            </a:r>
            <a:endParaRPr lang="zh-CN" altLang="en-US" sz="16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5698490" y="677545"/>
            <a:ext cx="2223135" cy="4133850"/>
          </a:xfrm>
          <a:prstGeom prst="roundRect">
            <a:avLst>
              <a:gd name="adj" fmla="val 8967"/>
            </a:avLst>
          </a:prstGeom>
          <a:solidFill>
            <a:srgbClr val="D5E8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137275" y="3038475"/>
            <a:ext cx="1471930" cy="981710"/>
          </a:xfrm>
          <a:prstGeom prst="roundRect">
            <a:avLst/>
          </a:prstGeom>
          <a:solidFill>
            <a:srgbClr val="D5E8D4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ROS2 </a:t>
            </a:r>
            <a:r>
              <a:rPr lang="zh-CN" altLang="en-US" b="1">
                <a:solidFill>
                  <a:srgbClr val="C00000"/>
                </a:solidFill>
              </a:rPr>
              <a:t>主题</a:t>
            </a:r>
            <a:r>
              <a:rPr lang="zh-CN" altLang="en-US" b="1">
                <a:solidFill>
                  <a:schemeClr val="tx1"/>
                </a:solidFill>
              </a:rPr>
              <a:t>：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传感器数据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（传感器消息，几何消息）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067210" y="316748"/>
            <a:ext cx="139371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ROS 2</a:t>
            </a:r>
            <a:endParaRPr lang="en-US" sz="16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3870325" y="2484755"/>
            <a:ext cx="1139190" cy="464820"/>
          </a:xfrm>
          <a:prstGeom prst="roundRect">
            <a:avLst/>
          </a:prstGeom>
          <a:solidFill>
            <a:srgbClr val="DAE8FC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控制面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动力学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3870325" y="3296920"/>
            <a:ext cx="1139190" cy="464820"/>
          </a:xfrm>
          <a:prstGeom prst="roundRect">
            <a:avLst/>
          </a:prstGeom>
          <a:solidFill>
            <a:srgbClr val="DAE8FC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HSD 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控制器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3991610" y="4165600"/>
            <a:ext cx="1315720" cy="469265"/>
          </a:xfrm>
          <a:prstGeom prst="roundRect">
            <a:avLst/>
          </a:prstGeom>
          <a:solidFill>
            <a:srgbClr val="FFE6CC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b="1">
                <a:solidFill>
                  <a:srgbClr val="C00000"/>
                </a:solidFill>
              </a:rPr>
              <a:t>传感器数据</a:t>
            </a:r>
            <a:endParaRPr lang="zh-CN" b="1">
              <a:solidFill>
                <a:schemeClr val="tx1"/>
              </a:solidFill>
            </a:endParaRPr>
          </a:p>
          <a:p>
            <a:pPr algn="ctr"/>
            <a:r>
              <a:rPr lang="zh-CN" b="1">
                <a:solidFill>
                  <a:srgbClr val="C00000"/>
                </a:solidFill>
              </a:rPr>
              <a:t>发布者</a:t>
            </a:r>
            <a:r>
              <a:rPr lang="en-US" altLang="zh-CN" b="1">
                <a:solidFill>
                  <a:schemeClr val="tx1"/>
                </a:solidFill>
              </a:rPr>
              <a:t> ROS2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4203700" y="832485"/>
            <a:ext cx="1139190" cy="464820"/>
          </a:xfrm>
          <a:prstGeom prst="roundRect">
            <a:avLst/>
          </a:prstGeom>
          <a:solidFill>
            <a:srgbClr val="FFE6CC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ROS2 </a:t>
            </a:r>
            <a:r>
              <a:rPr lang="zh-CN" altLang="en-US" b="1">
                <a:solidFill>
                  <a:schemeClr val="tx1"/>
                </a:solidFill>
              </a:rPr>
              <a:t>命令</a:t>
            </a:r>
            <a:r>
              <a:rPr lang="zh-CN" altLang="en-US" b="1">
                <a:solidFill>
                  <a:srgbClr val="C00000"/>
                </a:solidFill>
              </a:rPr>
              <a:t>订阅者</a:t>
            </a:r>
            <a:endParaRPr lang="zh-CN" altLang="en-US" b="1">
              <a:solidFill>
                <a:srgbClr val="C00000"/>
              </a:solidFill>
            </a:endParaRPr>
          </a:p>
        </p:txBody>
      </p:sp>
      <p:cxnSp>
        <p:nvCxnSpPr>
          <p:cNvPr id="72" name="直接箭头连接符 71"/>
          <p:cNvCxnSpPr>
            <a:stCxn id="21" idx="3"/>
            <a:endCxn id="70" idx="1"/>
          </p:cNvCxnSpPr>
          <p:nvPr/>
        </p:nvCxnSpPr>
        <p:spPr>
          <a:xfrm flipV="1">
            <a:off x="2407285" y="4400550"/>
            <a:ext cx="1584325" cy="635"/>
          </a:xfrm>
          <a:prstGeom prst="straightConnector1">
            <a:avLst/>
          </a:prstGeom>
          <a:ln w="19050">
            <a:solidFill>
              <a:srgbClr val="1073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 flipV="1">
            <a:off x="3481705" y="2117725"/>
            <a:ext cx="7620" cy="2287270"/>
          </a:xfrm>
          <a:prstGeom prst="straightConnector1">
            <a:avLst/>
          </a:prstGeom>
          <a:ln w="19050">
            <a:solidFill>
              <a:srgbClr val="1073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3437255" y="4378325"/>
            <a:ext cx="55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900" b="1" dirty="0">
                <a:solidFill>
                  <a:schemeClr val="tx1"/>
                </a:solidFill>
                <a:ea typeface="宋体" panose="02010600030101010101" pitchFamily="2" charset="-122"/>
              </a:rPr>
              <a:t>传感器数据</a:t>
            </a:r>
            <a:endParaRPr lang="zh-CN" sz="9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76" name="肘形连接符 75"/>
          <p:cNvCxnSpPr>
            <a:stCxn id="68" idx="0"/>
            <a:endCxn id="40" idx="3"/>
          </p:cNvCxnSpPr>
          <p:nvPr/>
        </p:nvCxnSpPr>
        <p:spPr>
          <a:xfrm rot="16200000" flipV="1">
            <a:off x="4071303" y="2116138"/>
            <a:ext cx="605790" cy="131445"/>
          </a:xfrm>
          <a:prstGeom prst="bentConnector2">
            <a:avLst/>
          </a:prstGeom>
          <a:ln w="19050">
            <a:solidFill>
              <a:srgbClr val="1073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69" idx="0"/>
            <a:endCxn id="68" idx="2"/>
          </p:cNvCxnSpPr>
          <p:nvPr/>
        </p:nvCxnSpPr>
        <p:spPr>
          <a:xfrm flipV="1">
            <a:off x="4439920" y="2949575"/>
            <a:ext cx="0" cy="347345"/>
          </a:xfrm>
          <a:prstGeom prst="straightConnector1">
            <a:avLst/>
          </a:prstGeom>
          <a:ln w="19050">
            <a:solidFill>
              <a:srgbClr val="1073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3104515" y="3930650"/>
            <a:ext cx="463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900" b="1" dirty="0">
                <a:solidFill>
                  <a:schemeClr val="tx1"/>
                </a:solidFill>
                <a:ea typeface="宋体" panose="02010600030101010101" pitchFamily="2" charset="-122"/>
              </a:rPr>
              <a:t>代理</a:t>
            </a:r>
            <a:endParaRPr lang="zh-CN" sz="9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ctr"/>
            <a:r>
              <a:rPr lang="zh-CN" sz="900" b="1" dirty="0">
                <a:solidFill>
                  <a:schemeClr val="tx1"/>
                </a:solidFill>
                <a:ea typeface="宋体" panose="02010600030101010101" pitchFamily="2" charset="-122"/>
              </a:rPr>
              <a:t>状态</a:t>
            </a:r>
            <a:endParaRPr lang="zh-CN" sz="9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136005" y="1421130"/>
            <a:ext cx="1471930" cy="981710"/>
          </a:xfrm>
          <a:prstGeom prst="roundRect">
            <a:avLst/>
          </a:prstGeom>
          <a:solidFill>
            <a:srgbClr val="D5E8D4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ROS2 </a:t>
            </a:r>
            <a:r>
              <a:rPr lang="zh-CN" altLang="en-US" b="1">
                <a:solidFill>
                  <a:srgbClr val="C00000"/>
                </a:solidFill>
              </a:rPr>
              <a:t>发布者</a:t>
            </a:r>
            <a:r>
              <a:rPr lang="zh-CN" altLang="en-US" b="1">
                <a:solidFill>
                  <a:schemeClr val="tx1"/>
                </a:solidFill>
              </a:rPr>
              <a:t>：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命令行输入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（</a:t>
            </a:r>
            <a:r>
              <a:rPr lang="en-US" altLang="zh-CN" b="1">
                <a:solidFill>
                  <a:schemeClr val="tx1"/>
                </a:solidFill>
              </a:rPr>
              <a:t>HoloOcean </a:t>
            </a:r>
            <a:r>
              <a:rPr lang="zh-CN" altLang="en-US" b="1">
                <a:solidFill>
                  <a:schemeClr val="tx1"/>
                </a:solidFill>
              </a:rPr>
              <a:t>接口）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80" name="肘形连接符 79"/>
          <p:cNvCxnSpPr>
            <a:stCxn id="70" idx="3"/>
            <a:endCxn id="55" idx="2"/>
          </p:cNvCxnSpPr>
          <p:nvPr/>
        </p:nvCxnSpPr>
        <p:spPr>
          <a:xfrm flipV="1">
            <a:off x="5307330" y="4020185"/>
            <a:ext cx="1565910" cy="380365"/>
          </a:xfrm>
          <a:prstGeom prst="bentConnector2">
            <a:avLst/>
          </a:prstGeom>
          <a:ln w="19050">
            <a:solidFill>
              <a:srgbClr val="1073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肘形连接符 80"/>
          <p:cNvCxnSpPr>
            <a:endCxn id="68" idx="3"/>
          </p:cNvCxnSpPr>
          <p:nvPr/>
        </p:nvCxnSpPr>
        <p:spPr>
          <a:xfrm rot="5400000">
            <a:off x="4408170" y="1917700"/>
            <a:ext cx="1400810" cy="198120"/>
          </a:xfrm>
          <a:prstGeom prst="bentConnector2">
            <a:avLst/>
          </a:prstGeom>
          <a:ln w="19050">
            <a:solidFill>
              <a:srgbClr val="1073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肘形连接符 81"/>
          <p:cNvCxnSpPr>
            <a:stCxn id="79" idx="0"/>
            <a:endCxn id="71" idx="3"/>
          </p:cNvCxnSpPr>
          <p:nvPr/>
        </p:nvCxnSpPr>
        <p:spPr>
          <a:xfrm rot="16200000" flipV="1">
            <a:off x="5928995" y="478155"/>
            <a:ext cx="356235" cy="1529080"/>
          </a:xfrm>
          <a:prstGeom prst="bentConnector2">
            <a:avLst/>
          </a:prstGeom>
          <a:ln w="19050">
            <a:solidFill>
              <a:srgbClr val="1073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肘形连接符 82"/>
          <p:cNvCxnSpPr>
            <a:endCxn id="69" idx="3"/>
          </p:cNvCxnSpPr>
          <p:nvPr/>
        </p:nvCxnSpPr>
        <p:spPr>
          <a:xfrm rot="5400000">
            <a:off x="3992880" y="2312035"/>
            <a:ext cx="2233930" cy="200660"/>
          </a:xfrm>
          <a:prstGeom prst="bentConnector2">
            <a:avLst/>
          </a:prstGeom>
          <a:ln w="19050">
            <a:solidFill>
              <a:srgbClr val="1073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843905" y="4435475"/>
            <a:ext cx="13639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ea typeface="宋体" panose="02010600030101010101" pitchFamily="2" charset="-122"/>
              </a:rPr>
              <a:t>IMU</a:t>
            </a:r>
            <a:r>
              <a:rPr lang="zh-CN" altLang="en-US" sz="900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900" b="1" dirty="0">
                <a:solidFill>
                  <a:schemeClr val="tx1"/>
                </a:solidFill>
                <a:ea typeface="宋体" panose="02010600030101010101" pitchFamily="2" charset="-122"/>
              </a:rPr>
              <a:t>DVL</a:t>
            </a:r>
            <a:r>
              <a:rPr lang="zh-CN" altLang="en-US" sz="900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900" b="1" dirty="0">
                <a:solidFill>
                  <a:schemeClr val="tx1"/>
                </a:solidFill>
                <a:ea typeface="宋体" panose="02010600030101010101" pitchFamily="2" charset="-122"/>
              </a:rPr>
              <a:t>GPS</a:t>
            </a:r>
            <a:r>
              <a:rPr lang="zh-CN" altLang="en-US" sz="900" b="1" dirty="0">
                <a:solidFill>
                  <a:schemeClr val="tx1"/>
                </a:solidFill>
                <a:ea typeface="宋体" panose="02010600030101010101" pitchFamily="2" charset="-122"/>
              </a:rPr>
              <a:t>等</a:t>
            </a:r>
            <a:endParaRPr lang="zh-CN" altLang="en-US" sz="9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85" name="肘形连接符 84"/>
          <p:cNvCxnSpPr>
            <a:stCxn id="40" idx="0"/>
            <a:endCxn id="47" idx="3"/>
          </p:cNvCxnSpPr>
          <p:nvPr/>
        </p:nvCxnSpPr>
        <p:spPr>
          <a:xfrm rot="16200000" flipV="1">
            <a:off x="2993390" y="828040"/>
            <a:ext cx="232410" cy="1404620"/>
          </a:xfrm>
          <a:prstGeom prst="bentConnector2">
            <a:avLst/>
          </a:prstGeom>
          <a:ln w="19050">
            <a:solidFill>
              <a:srgbClr val="10739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3232785" y="1170305"/>
            <a:ext cx="57213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/>
                </a:solidFill>
                <a:ea typeface="宋体" panose="02010600030101010101" pitchFamily="2" charset="-122"/>
              </a:rPr>
              <a:t>加速度</a:t>
            </a:r>
            <a:endParaRPr lang="zh-CN" altLang="en-US" sz="9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780405" y="821055"/>
            <a:ext cx="121983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/>
                </a:solidFill>
                <a:ea typeface="宋体" panose="02010600030101010101" pitchFamily="2" charset="-122"/>
              </a:rPr>
              <a:t>控制面或</a:t>
            </a:r>
            <a:r>
              <a:rPr lang="en-US" altLang="zh-CN" sz="900" b="1" dirty="0">
                <a:solidFill>
                  <a:schemeClr val="tx1"/>
                </a:solidFill>
                <a:ea typeface="宋体" panose="02010600030101010101" pitchFamily="2" charset="-122"/>
              </a:rPr>
              <a:t> HSD </a:t>
            </a:r>
            <a:r>
              <a:rPr lang="zh-CN" altLang="en-US" sz="900" b="1" dirty="0">
                <a:solidFill>
                  <a:schemeClr val="tx1"/>
                </a:solidFill>
                <a:ea typeface="宋体" panose="02010600030101010101" pitchFamily="2" charset="-122"/>
              </a:rPr>
              <a:t>命令</a:t>
            </a:r>
            <a:endParaRPr lang="zh-CN" altLang="en-US" sz="9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rgbClr val="10739E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14496"/>
      </a:accent1>
      <a:accent2>
        <a:srgbClr val="FF33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2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WPS 演示</Application>
  <PresentationFormat>全屏显示(16:9)</PresentationFormat>
  <Paragraphs>76</Paragraphs>
  <Slides>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Arial</vt:lpstr>
      <vt:lpstr>Economica</vt:lpstr>
      <vt:lpstr>Open Sans</vt:lpstr>
      <vt:lpstr>Muli Regular</vt:lpstr>
      <vt:lpstr>微软雅黑</vt:lpstr>
      <vt:lpstr>Calibri</vt:lpstr>
      <vt:lpstr>Times New Roman</vt:lpstr>
      <vt:lpstr>等线</vt:lpstr>
      <vt:lpstr>Calibri</vt:lpstr>
      <vt:lpstr>仿宋_GB2312</vt:lpstr>
      <vt:lpstr>仿宋</vt:lpstr>
      <vt:lpstr>Muli</vt:lpstr>
      <vt:lpstr>Arial Unicode MS</vt:lpstr>
      <vt:lpstr>Luxe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Administrator</dc:creator>
  <cp:lastModifiedBy>王海东</cp:lastModifiedBy>
  <cp:revision>1233</cp:revision>
  <dcterms:created xsi:type="dcterms:W3CDTF">2020-04-29T14:54:00Z</dcterms:created>
  <dcterms:modified xsi:type="dcterms:W3CDTF">2026-07-30T14:00:59Z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52001D24D9B141B2A1B5955D7D21ACC2</vt:lpwstr>
  </property>
  <property fmtid="{D5CDD505-2E9C-101B-9397-08002B2CF9AE}" pid="3" name="KSOProductBuildVer">
    <vt:lpwstr>2052-12.1.0.25222</vt:lpwstr>
  </property>
</Properties>
</file>